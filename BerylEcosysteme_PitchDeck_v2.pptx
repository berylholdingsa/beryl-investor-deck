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écosystème (M FCFA)</c:v>
                </c:pt>
              </c:strCache>
            </c:strRef>
          </c:tx>
          <c:spPr>
            <a:solidFill>
              <a:srgbClr val="00D6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2F5F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2028</c:v>
                  </c:pt>
                  <c:pt idx="2">
                    <c:v>2030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5000</c:v>
                </c:pt>
                <c:pt idx="2">
                  <c:v>15800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2F5F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2F5F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5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00D6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2F5F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Jeunes (18–35)</c:v>
                  </c:pt>
                  <c:pt idx="1">
                    <c:v>Femmes</c:v>
                  </c:pt>
                  <c:pt idx="2">
                    <c:v>PME locales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45</c:v>
                </c:pt>
                <c:pt idx="2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2F5F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2F5F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CO₂ évitées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2F5F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2028</c:v>
                  </c:pt>
                  <c:pt idx="2">
                    <c:v>2030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3200</c:v>
                </c:pt>
                <c:pt idx="2">
                  <c:v>12000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2F5F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2F5F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Revenus BérylGreenOS (M FCFA)</c:v>
                </c:pt>
              </c:strCache>
            </c:strRef>
          </c:tx>
          <c:spPr>
            <a:solidFill>
              <a:srgbClr val="D8B7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2F5F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510</c:v>
                </c:pt>
                <c:pt idx="2">
                  <c:v>3390</c:v>
                </c:pt>
                <c:pt idx="3">
                  <c:v>7920</c:v>
                </c:pt>
                <c:pt idx="4">
                  <c:v>14700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2F5F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2F5F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1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1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2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 HOLDING S.A.S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965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9FB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BÉRYL ÉCOSYSTÈME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868680" y="4160520"/>
            <a:ext cx="2011680" cy="0"/>
          </a:xfrm>
          <a:prstGeom prst="line">
            <a:avLst/>
          </a:prstGeom>
          <a:noFill/>
          <a:ln w="31750">
            <a:solidFill>
              <a:srgbClr val="D8B7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89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numérique &amp; énergétique souveraine</a:t>
            </a:r>
            <a:endParaRPr lang="en-US" sz="17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CEPICI N°507752  ·  Capital 5 000 000 FCFA  ·  Abidjan, Côte d'Ivoire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743200"/>
            <a:ext cx="1005840" cy="10058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48840" y="2697480"/>
            <a:ext cx="9052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 ÉCOSYSTÈME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initiative technologique &amp; climatique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par Béryl Holding S.A.S, elle bâtit une infrastructure numérique et énergétique souveraine reliant quatre leviers 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41448"/>
            <a:ext cx="548640" cy="5486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électrique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08760" y="30175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Flotte 100 % électrique, collecte de données terrain réelles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441448"/>
            <a:ext cx="548640" cy="5486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240487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numérique locale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78040" y="30175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BérylPay — inclusion financière, KYC BCEAO, Mobile Money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315968"/>
            <a:ext cx="548640" cy="5486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15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2793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africaine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508760" y="48920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AOQ — modèles ancrés sur le contexte ivoirien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4315968"/>
            <a:ext cx="548640" cy="5486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315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42793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climatique &amp; territoriale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178040" y="48920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BérylGreenOS — MRV carbone souverain, jumeau numérique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Intégrer la Côte d'Ivoire dans l'économie verte &amp; digitale mondiale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approche pragmatique 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0515600" cy="2286000"/>
          </a:xfrm>
          <a:prstGeom prst="roundRect">
            <a:avLst>
              <a:gd name="adj" fmla="val 3200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7744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D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2011680" y="278892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chaque trajet, chaque transaction et chaque donnée en richesse mesurable.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Béryl Écosystème — quatre piliers, un système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46904" y="3017520"/>
            <a:ext cx="2286000" cy="2286000"/>
          </a:xfrm>
          <a:prstGeom prst="ellipse">
            <a:avLst/>
          </a:prstGeom>
          <a:solidFill>
            <a:srgbClr val="0E3B33"/>
          </a:solidFill>
          <a:ln w="2540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46904" y="30175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00600" y="3291840"/>
            <a:ext cx="1289304" cy="868680"/>
          </a:xfrm>
          <a:prstGeom prst="line">
            <a:avLst/>
          </a:prstGeom>
          <a:noFill/>
          <a:ln w="19050">
            <a:solidFill>
              <a:srgbClr val="1E4B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77640" y="2468880"/>
            <a:ext cx="1645920" cy="1645920"/>
          </a:xfrm>
          <a:prstGeom prst="ellipse">
            <a:avLst/>
          </a:prstGeom>
          <a:solidFill>
            <a:srgbClr val="3E7C8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0" y="246888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BérylPay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9904" y="3291840"/>
            <a:ext cx="2916936" cy="868680"/>
          </a:xfrm>
          <a:prstGeom prst="line">
            <a:avLst/>
          </a:prstGeom>
          <a:noFill/>
          <a:ln w="19050">
            <a:solidFill>
              <a:srgbClr val="1E4B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2468880"/>
            <a:ext cx="1645920" cy="1645920"/>
          </a:xfrm>
          <a:prstGeom prst="ellipse">
            <a:avLst/>
          </a:prstGeom>
          <a:solidFill>
            <a:srgbClr val="4FA07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246888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Électrique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4160520"/>
            <a:ext cx="1289304" cy="2148840"/>
          </a:xfrm>
          <a:prstGeom prst="line">
            <a:avLst/>
          </a:prstGeom>
          <a:noFill/>
          <a:ln w="19050">
            <a:solidFill>
              <a:srgbClr val="1E4B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77640" y="5486400"/>
            <a:ext cx="1645920" cy="1645920"/>
          </a:xfrm>
          <a:prstGeom prst="ellipse">
            <a:avLst/>
          </a:prstGeom>
          <a:solidFill>
            <a:srgbClr val="D8B76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548640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BérylGreenOS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9904" y="4160520"/>
            <a:ext cx="2916936" cy="2148840"/>
          </a:xfrm>
          <a:prstGeom prst="line">
            <a:avLst/>
          </a:prstGeom>
          <a:noFill/>
          <a:ln w="19050">
            <a:solidFill>
              <a:srgbClr val="1E4B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5486400"/>
            <a:ext cx="1645920" cy="1645920"/>
          </a:xfrm>
          <a:prstGeom prst="ellipse">
            <a:avLst/>
          </a:prstGeom>
          <a:solidFill>
            <a:srgbClr val="9B5BA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548640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AOQ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743200"/>
            <a:ext cx="1005840" cy="10058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48840" y="2697480"/>
            <a:ext cx="9052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NATIONAL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transitions, quatre contraintes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transitions engagées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 — inclusion technologique et souveraineté des données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Énergétique — électrification verte et réduction carbone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contraintes qui freinent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4800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des données hébergées hors du continent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des jeunes urbains non bancarisés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 des émissions urbaines liées aux transports thermiques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d'outil souverain de mesure carbone (MRV)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64592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595360" y="164592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hors continent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072384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163824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595360" y="3163824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non bancarisés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459028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4681728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595360" y="4681728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émissions transport thermique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CONTINENTAL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coût de la dépendance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703320"/>
                <a:gridCol w="37033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Problématique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 clé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Conséquence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Importation de carburant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30 milliards USD/an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Dépendance énergétique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 cloud étranger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80 % des données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 de souveraineté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climat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3 % capté par l'Afrique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valorisation carbone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STRATÉGIQUES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Cibles 2030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93776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 cible 2030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Créer une super-app souveraine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1 000 000 utilisateurs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Énergie propre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Flotte 100 % électrique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 véhicules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climat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Générer crédits carbone ESG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12 000 t CO₂/an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Former jeunes &amp; femmes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personnes formées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 souverain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Déployer BérylGreenOS (MRV, satellite)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territoires couverts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OFFICIELLE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Béryl Holding S.A.S sollicite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11096"/>
            <a:ext cx="502920" cy="502920"/>
          </a:xfrm>
          <a:prstGeom prst="ellipse">
            <a:avLst/>
          </a:prstGeom>
          <a:solidFill>
            <a:srgbClr val="D8B76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11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9784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Start-up Numérique  </a:t>
            </a:r>
            <a:pPr indent="0" marL="0">
              <a:buNone/>
            </a:pPr>
            <a:r>
              <a:rPr lang="en-US" sz="15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auprès du Ministère de la Transition Numérique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990088"/>
            <a:ext cx="502920" cy="502920"/>
          </a:xfrm>
          <a:prstGeom prst="ellipse">
            <a:avLst/>
          </a:prstGeom>
          <a:solidFill>
            <a:srgbClr val="D8B76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770632"/>
            <a:ext cx="9784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au programme  </a:t>
            </a:r>
            <a:pPr indent="0" marL="0">
              <a:buNone/>
            </a:pPr>
            <a:r>
              <a:rPr lang="en-US" sz="15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Côte d'Ivoire Numérique 2030 »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D8B76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849624"/>
            <a:ext cx="9784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Appui institutionnel  </a:t>
            </a:r>
            <a:pPr indent="0" marL="0">
              <a:buNone/>
            </a:pPr>
            <a:r>
              <a:rPr lang="en-US" sz="15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phase pilote Abidjan (2025–2026)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148072"/>
            <a:ext cx="502920" cy="502920"/>
          </a:xfrm>
          <a:prstGeom prst="ellipse">
            <a:avLst/>
          </a:prstGeom>
          <a:solidFill>
            <a:srgbClr val="D8B76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48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928616"/>
            <a:ext cx="9784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de BérylGreenOS  </a:t>
            </a:r>
            <a:pPr indent="0" marL="0">
              <a:buNone/>
            </a:pPr>
            <a:r>
              <a:rPr lang="en-US" sz="15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outil de référence MRV auprès du MINEDDTE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743200"/>
            <a:ext cx="1005840" cy="10058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48840" y="2697480"/>
            <a:ext cx="9052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DU PROJET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ÉCONOMIQUE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trajectoire de croissance exponentielle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82880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03720" y="19202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B7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00100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 FCFA — phase pilote (15 VE, MVP opérationnel)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75120" y="306324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03720" y="31546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B7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001000" y="3154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Md FCFA — expansion nationale (500 VE, monétisation super-app)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75120" y="429768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03720" y="43891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B7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001000" y="4389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 Md FCFA — maturité du modèle + intégration CEDEAO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75120" y="5623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2027, BérylGreenOS ajoute un second moteur de revenu indépendant de la mobilité (B2G, MRV, données).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— INDICATEURS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pilote à l'échelle nationale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611880"/>
                <a:gridCol w="3611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Pilote (2025–26)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 2030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Véhicules électriques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Utilisateurs BérylPay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1 000 000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Emplois créés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3 500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5,7×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Maintenu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Stabilité financière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FCFA investi → 5,7 FCFA de valeur ajoutée locale.   </a:t>
            </a:r>
            <a:pPr algn="ctr" indent="0" marL="0">
              <a:buNone/>
            </a:pPr>
            <a:r>
              <a:rPr lang="en-US" sz="13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BérylGreenOS : 0 → 33 territoires couverts d'ici 2030 (contrat B2G).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SOCIAL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inclusion socio-économique réelle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8288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66560" y="19385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18–35 : 60 %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76656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du dispositif — emplois numériques et verts pour la jeunesse.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92240" y="32004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66560" y="33101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Femmes : 45 %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66560" y="3703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représentation en fintech, gestion de flotte et formation.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45720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6560" y="46817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locales : 35 %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66560" y="5074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des entreprises ivoiriennes dans la chaîne de valeur.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ENVIRONNEMENTAL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CO₂ évité — trajectoire cible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— flotte VE en déploiement (données réelles labellisées dès la mise en circulation)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8521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82880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949440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BérylGreenOS — MRV satellite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49440" y="2395728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le CO₂ évité sur 33 territoires via imagerie satellite réelle (Hansen GFC, NASA FIRMS, Sentinel) et génère des crédits carbone certifiables (1 crédit = 1 t CO₂).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75120" y="4160520"/>
            <a:ext cx="4937760" cy="1965960"/>
          </a:xfrm>
          <a:prstGeom prst="roundRect">
            <a:avLst>
              <a:gd name="adj" fmla="val 3721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949440" y="43159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circulaire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49440" y="4681728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crédits carbone financent le renouvellement de la flotte électrique et la formation des jeunes — une boucle de valeur autoportée.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TECHNOLOGIQUE &amp; INSTITUTIONNEL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Béryl, outil d'aide à la décision publique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66344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 introduite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 national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 local (serveurs CI)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Souveraineté numérique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AOQ &amp; BérylGreenOS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anti-hallucination (retrieve-before-generate)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Zéro donnée fabriquée — MRV certifiable, 33 territoires suivis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 CNDP &amp; RGPD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citoyenne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data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de bord ministériel ESG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Planification urbaine verte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 devient un outil d'aide à la décision publique, pas seulement un acteur privé.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697480"/>
            <a:ext cx="1051560" cy="1051560"/>
          </a:xfrm>
          <a:prstGeom prst="ellipse">
            <a:avLst/>
          </a:prstGeom>
          <a:solidFill>
            <a:srgbClr val="D8B76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6974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2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94560" y="2514600"/>
            <a:ext cx="9052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BÉRYLGREENOS</a:t>
            </a:r>
            <a:endParaRPr lang="en-US" sz="4000" dirty="0"/>
          </a:p>
          <a:p>
            <a:pPr indent="0" marL="0">
              <a:buNone/>
            </a:pPr>
            <a:r>
              <a:rPr lang="en-US" sz="3000" i="1" dirty="0">
                <a:solidFill>
                  <a:srgbClr val="00D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économique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BÉRYLGREENOS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second moteur de revenu, six flux cumulables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 de la mobilité : licences B2G, données et MRV monétisent une plateforme déjà en production — 364 974 observations réelles, 9 facteurs d'émission sourcés, 33 territoires.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B2G — MINEDDTE &amp; collectivités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7706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</a:t>
            </a:r>
            <a:pPr indent="0" marL="0">
              <a:buNone/>
            </a:pPr>
            <a:r>
              <a:rPr lang="en-US" sz="11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80–90 %</a:t>
            </a:r>
            <a:pPr indent="0" marL="0">
              <a:buNone/>
            </a:pPr>
            <a:r>
              <a:rPr lang="en-US" sz="11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D8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 – 2 M USD / contrat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21488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État &amp; régionaux (CEDEAO/UA)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27706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</a:t>
            </a:r>
            <a:pPr indent="0" marL="0">
              <a:buNone/>
            </a:pPr>
            <a:r>
              <a:rPr lang="en-US" sz="11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70–85 %</a:t>
            </a:r>
            <a:pPr indent="0" marL="0">
              <a:buNone/>
            </a:pPr>
            <a:r>
              <a:rPr lang="en-US" sz="11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D8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10 M USD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5844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B2B — assurances &amp; banques ESG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</a:t>
            </a:r>
            <a:pPr indent="0" marL="0">
              <a:buNone/>
            </a:pPr>
            <a:r>
              <a:rPr lang="en-US" sz="11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85–90 %</a:t>
            </a:r>
            <a:pPr indent="0" marL="0">
              <a:buNone/>
            </a:pPr>
            <a:r>
              <a:rPr lang="en-US" sz="11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D8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– 500 K USD / 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3447288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35844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MRV-as-a-Service (crédits carbone + GCF)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46520" y="4069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</a:t>
            </a:r>
            <a:pPr indent="0" marL="0">
              <a:buNone/>
            </a:pPr>
            <a:r>
              <a:rPr lang="en-US" sz="11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60–75 %</a:t>
            </a:r>
            <a:pPr indent="0" marL="0">
              <a:buNone/>
            </a:pPr>
            <a:r>
              <a:rPr lang="en-US" sz="11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D8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200 K USD / projet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745736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8828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&amp; API environnementale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53675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</a:t>
            </a:r>
            <a:pPr indent="0" marL="0">
              <a:buNone/>
            </a:pPr>
            <a:r>
              <a:rPr lang="en-US" sz="11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90–95 %</a:t>
            </a:r>
            <a:pPr indent="0" marL="0">
              <a:buNone/>
            </a:pPr>
            <a:r>
              <a:rPr lang="en-US" sz="11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D8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200 K USD / 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745736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48828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bailleurs directs (BM / PNUD / FAO)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6520" y="53675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</a:t>
            </a:r>
            <a:pPr indent="0" marL="0">
              <a:buNone/>
            </a:pPr>
            <a:r>
              <a:rPr lang="en-US" sz="11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40–60 %</a:t>
            </a:r>
            <a:pPr indent="0" marL="0">
              <a:buNone/>
            </a:pPr>
            <a:r>
              <a:rPr lang="en-US" sz="11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D8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 – 5 M USD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BÉRYLGREENOS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SaaS souverain — nomenclature africaine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2926080"/>
          </a:xfrm>
          <a:prstGeom prst="roundRect">
            <a:avLst>
              <a:gd name="adj" fmla="val 279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2615184" cy="109728"/>
          </a:xfrm>
          <a:prstGeom prst="roundRect">
            <a:avLst>
              <a:gd name="adj" fmla="val 41667"/>
            </a:avLst>
          </a:prstGeom>
          <a:solidFill>
            <a:srgbClr val="3E7C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Baobab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D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99 $ /mois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PME, coopératives, ONG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46704" y="1737360"/>
            <a:ext cx="2615184" cy="2926080"/>
          </a:xfrm>
          <a:prstGeom prst="roundRect">
            <a:avLst>
              <a:gd name="adj" fmla="val 279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46704" y="1737360"/>
            <a:ext cx="2615184" cy="109728"/>
          </a:xfrm>
          <a:prstGeom prst="roundRect">
            <a:avLst>
              <a:gd name="adj" fmla="val 41667"/>
            </a:avLst>
          </a:prstGeom>
          <a:solidFill>
            <a:srgbClr val="4FA07E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205740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9584" y="260604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D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490 $ /mois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29584" y="3291840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ETI, communes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44768" y="1737360"/>
            <a:ext cx="2615184" cy="2926080"/>
          </a:xfrm>
          <a:prstGeom prst="roundRect">
            <a:avLst>
              <a:gd name="adj" fmla="val 279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737360"/>
            <a:ext cx="2615184" cy="109728"/>
          </a:xfrm>
          <a:prstGeom prst="roundRect">
            <a:avLst>
              <a:gd name="adj" fmla="val 41667"/>
            </a:avLst>
          </a:prstGeom>
          <a:solidFill>
            <a:srgbClr val="00A886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205740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Pro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27648" y="260604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D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1 200 $ /mois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27648" y="3291840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groupes, banques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42832" y="1737360"/>
            <a:ext cx="2615184" cy="2926080"/>
          </a:xfrm>
          <a:prstGeom prst="roundRect">
            <a:avLst>
              <a:gd name="adj" fmla="val 279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42832" y="1737360"/>
            <a:ext cx="2615184" cy="109728"/>
          </a:xfrm>
          <a:prstGeom prst="roundRect">
            <a:avLst>
              <a:gd name="adj" fmla="val 41667"/>
            </a:avLst>
          </a:prstGeom>
          <a:solidFill>
            <a:srgbClr val="D8B76A"/>
          </a:solidFill>
          <a:ln/>
        </p:spPr>
      </p:sp>
      <p:sp>
        <p:nvSpPr>
          <p:cNvPr id="21" name="Text 19"/>
          <p:cNvSpPr/>
          <p:nvPr/>
        </p:nvSpPr>
        <p:spPr>
          <a:xfrm>
            <a:off x="9125712" y="205740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25712" y="260604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D6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devis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125712" y="3291840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Gouvernements, régulateurs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25712" y="420624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8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 – 500 K USD / 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aux réalités africaines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(Wave, Orange, MTN)   ·   offline-first (PWA)   ·   freemium d'entrée   ·   subvention bailleurs (AFD/GIZ)   ·   parité de pouvoir d'achat par pays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BÉRYLGREENOS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Produits commerciaux immédiats (P0)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Vendables dès maintenant — la plateforme et les données existent, seul le packaging reste.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Carbone Transport CI  </a:t>
            </a:r>
            <a:pPr indent="0" marL="0">
              <a:buNone/>
            </a:pPr>
            <a:r>
              <a:rPr lang="en-US" sz="12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Rapport CSRD Scope 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CI, Orange CI, Nestlé CI, CFAO, Bolloré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2057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8B7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– 25 M FCFA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3375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pilote VE certifiable  </a:t>
            </a:r>
            <a:pPr indent="0" marL="0">
              <a:buNone/>
            </a:pPr>
            <a:r>
              <a:rPr lang="en-US" sz="12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EPM Schammah — capture GPS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76732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Flottes VE de Côte d'Ivoire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3291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8B7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– 15 M FCFA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5720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MINEDDTE  </a:t>
            </a:r>
            <a:pPr indent="0" marL="0">
              <a:buNone/>
            </a:pPr>
            <a:r>
              <a:rPr lang="en-US" sz="1250" dirty="0">
                <a:solidFill>
                  <a:srgbClr val="9FB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Partenariat NDC / REDD+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0017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MINEDDTE (gré à gré)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45262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8B7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– 100 M FCFA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Différenciateur unique : facteurs informels calibrés CI — Gbaka 280, Woro-woro 180, Moto-taxi 92 gCO₂/km (inexistants dans IPCC/ADEME).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BÉRYLGREENOS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Trajectoire de revenus — scénario réaliste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6751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8308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26680" y="1920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8B7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14,7 Md FCFA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726680" y="269748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sous-total revenus BérylGreenOS en 2030 (second moteur, indépendant de la mobilité).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406908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2668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Amorçage SaaS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26680" y="4617720"/>
            <a:ext cx="3703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≈ 946 K USD dès le mois 18 (scénario conservateur : 2 contrats Souverain = 42 % du MRR). Le freemium constitue le capital-données stratégique.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743200"/>
            <a:ext cx="1005840" cy="100584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48840" y="2697480"/>
            <a:ext cx="9052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SYNERGIES &amp; PERSPECTIVES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SOUTIENS SOUHAITÉS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leviers d'accélération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39496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d'appui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6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stratégique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8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Institutionnel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Lettre de recommandation officielle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Crédibilité accrue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Sécurisation, interopérabilité, data center local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Renforcement de la souveraineté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Levée de 500 000 USD ; orientation CI-PME, BAD, PNUD, FVC/GCF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Accélération BérylGreenOS &amp; accès fonds d'amorçage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D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Médiatique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Valorisation nationale du projet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2F5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Vitrine d'innovation ivoirienne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5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inclusion &amp; durabilité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0352E"/>
          </a:solidFill>
          <a:ln w="12700">
            <a:solidFill>
              <a:srgbClr val="1E4B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"L'innovation n'a de sens que si elle sert la souveraineté, l'emploi et la durabilité."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Tiémoko H. COULIBALY, Fondateur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de Béryl Holding S.A.S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4747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Promouvoir une technologie africaine souveraine et éthique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123944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0782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Favoriser l'emploi vert et la formation des jeunes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27448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27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6817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Devenir un partenaire stratégique du Ministère de la Transition Numérique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330952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330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28523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le Label Start-up Numérique ivoirien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934456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934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88873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BérylGreenOS sur les 33 territoires comme référence nationale de mesure carbone souveraine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2026-07-10T08:25:34Z</dcterms:created>
  <dcterms:modified xsi:type="dcterms:W3CDTF">2026-07-10T08:25:34Z</dcterms:modified>
</cp:coreProperties>
</file>