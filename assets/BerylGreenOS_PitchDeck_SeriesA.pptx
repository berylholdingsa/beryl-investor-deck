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31352" y="1828800"/>
            <a:ext cx="4160520" cy="4160520"/>
          </a:xfrm>
          <a:prstGeom prst="ellipse">
            <a:avLst/>
          </a:prstGeom>
          <a:solidFill>
            <a:srgbClr val="0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20072" y="2423160"/>
            <a:ext cx="2615184" cy="2615184"/>
          </a:xfrm>
          <a:prstGeom prst="ellipse">
            <a:avLst/>
          </a:prstGeom>
          <a:solidFill>
            <a:srgbClr val="0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17352" y="2971800"/>
            <a:ext cx="1188720" cy="1188720"/>
          </a:xfrm>
          <a:prstGeom prst="ellipse">
            <a:avLst/>
          </a:prstGeom>
          <a:solidFill>
            <a:srgbClr val="0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SERIES A ·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BérylGreenOS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CF5"/>
                </a:solidFill>
              </a:rPr>
              <a:t>Le système d'exploitation climatique et territorial
des États africains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160520"/>
            <a:ext cx="27432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9ABB"/>
                </a:solidFill>
              </a:rPr>
              <a:t>Mesurer · Certifier · Piloter · Financer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07F"/>
                </a:solidFill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Pays CEDEAO ciblés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07F"/>
                </a:solidFill>
              </a:rPr>
              <a:t>400M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Habitants couverts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07F"/>
                </a:solidFill>
              </a:rPr>
              <a:t>13 Mds 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6172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Financement GCF disponible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E5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534B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Les États africains sont
aveuglés sur leur propre territoire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5394960" cy="169164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534B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974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Obligations MRV non tenues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7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Les NDC de l'Accord de Paris exigent des données certifiées. Aucun État
d'Afrique de l'Ouest n'a l'infrastructure pour les produire automatiquement.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560320"/>
            <a:ext cx="5394960" cy="169164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534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26974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Financements climatiques bloqués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7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Le Green Climate Fund a distribué 13 Mds $. Chaque projet exige un
système de mesure certifié. Sans lui, les fonds restent inaccessibles.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5394960" cy="169164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534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Décisions urbaines sans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Abidjan croît de 4%/an. Les décisions d'urbanisme, transport et
gestion des risques se prennent sur des données vieilles de 5 ans.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4480560"/>
            <a:ext cx="5394960" cy="169164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534B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Dépendance technologique étrangère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Les solutions existantes (Esri, Palantir, Siemens) sont conçues
pour l'Occident, non souveraines, et hors de portée budgétaire.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Une infrastructure souveraine,
pas un SaaS de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CF5"/>
                </a:solidFill>
              </a:rPr>
              <a:t>BérylGreenOS est la première plateforme qui permet aux gouvernements africains de mesurer, certifier et
piloter leur territoire climatique en temps réel — avec un audit trail légalement opposable.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54864" cy="457200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1071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Edge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10712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GPS offline-first · Sync intelligent · Compression réseau instable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13632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13632"/>
            <a:ext cx="54864" cy="457200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Event-Driven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941064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NATS JetStream · Temps réel &lt; 2s GPS → alerte · Zéro perte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43984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43984"/>
            <a:ext cx="54864" cy="457200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714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Souveraine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471416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PostGIS · TimescaleDB · Data Lake MinIO · Schéma canonique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74336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74336"/>
            <a:ext cx="54864" cy="457200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017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01768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Flood + Heat + Drought + Mobilité → Score composite territorial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04688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50468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Carbon 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532120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Hash chain SHA-256 · MRV certifiable · Export ISO 14064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035040"/>
            <a:ext cx="10789920" cy="457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6035040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0624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062472"/>
            <a:ext cx="7772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Simulation inondation, congestion, pollution · What-if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LE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Un marché structurellement sous-équipé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606040" cy="1828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07F"/>
                </a:solidFill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États CEDEAO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Même langue, mêmes obligations
climatiques, même gap de données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65960"/>
            <a:ext cx="2606040" cy="1828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07F"/>
                </a:solidFill>
              </a:rPr>
              <a:t>400M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Habitants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Croissance urbaine 3–5%/an,
zéro infrastructure de suivi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2606040" cy="1828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07F"/>
                </a:solidFill>
              </a:rPr>
              <a:t>13 Mds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GCF distribué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Chaque projet exige un système
MRV. Aucun n'est en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965960"/>
            <a:ext cx="2606040" cy="1828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1031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07F"/>
                </a:solidFill>
              </a:rP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Deadline NDC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00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Rapport obligatoire à l'ONU.
Infrastructure = urgence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Marché adressable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480560"/>
            <a:ext cx="2286000" cy="173736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19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A9ABB"/>
                </a:solidFill>
              </a:rPr>
              <a:t>TAM
3,2 Mds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52120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Tous pays africains
obligation climatique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4480560"/>
            <a:ext cx="2286000" cy="173736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CF5"/>
                </a:solidFill>
              </a:rPr>
              <a:t>SAM
480 M 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2120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15 pays CEDEAO
francophones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480560"/>
            <a:ext cx="2286000" cy="173736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79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07F"/>
                </a:solidFill>
              </a:rPr>
              <a:t>SOM
48 M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79" y="52120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5 pays · 3 ans
scénario cible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4 flux de revenus, 1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1078992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" cy="107899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Licence Souveraine État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957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80k–350k USD/an · Contrat 3–5 ans · Hébergement souverain inclus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933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Récurrent · Haut ticket · Référence stratégique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957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Côte d'Ivoire, Sénégal, Cameroun…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11064240" cy="1078992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0672"/>
            <a:ext cx="54864" cy="1078992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8211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A65"/>
                </a:solidFill>
              </a:rPr>
              <a:t>TIER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638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Accès Bailleurs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66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1,5k–9k USD/mois · SaaS dashboards · Rapports impact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63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A65"/>
                </a:solidFill>
              </a:rPr>
              <a:t>Cycle court · Scalable · Décision chef de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AFD, Banque Mondiale, PNUD, GEF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61104"/>
            <a:ext cx="11064240" cy="1078992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61104"/>
            <a:ext cx="54864" cy="10789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5254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TIER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334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 Carbone Certifiée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7365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800–7k USD/mois · Obligations ESG Scope 3 · Audit MRV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342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Récurrent · Volume · Barrière concurrentielle forte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736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Total CI, Orange CI, multinationales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31536"/>
            <a:ext cx="11064240" cy="1078992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31536"/>
            <a:ext cx="54864" cy="10789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22975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TIER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504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Carbon Credits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907023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3–5% commission · Crédits Gold Standard / Verra · 2026+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046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Upside asymétrique · Sans coût marginal additionnel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90702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Projets transport propre, forêt, énergie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PROJECTIONS FINANCIÈRES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Vers 2,5 M USD ARR en 36 mois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794760" cy="475488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920240"/>
            <a:ext cx="2057400" cy="475488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01168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920240"/>
            <a:ext cx="2057400" cy="475488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1920240"/>
            <a:ext cx="2057400" cy="475488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01168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379476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32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Licences État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441448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532888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80 000 $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441448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532888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440 000 $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2441448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532888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1 100 000 $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16936"/>
            <a:ext cx="379476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083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Accès Bailleurs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916936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3008376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36 000 $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916936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008376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192 000 $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916936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008376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540 000 $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92424"/>
            <a:ext cx="379476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83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API B2B Entreprises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392424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79" y="3483864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48 000 $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92424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83864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240 000 $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3392424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3483864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780 000 $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67911"/>
            <a:ext cx="379476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9593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Carbon Credits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3867911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79" y="3959351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867911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959351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3867911"/>
            <a:ext cx="2057400" cy="42976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3959351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CF5"/>
                </a:solidFill>
              </a:rPr>
              <a:t>80 000 $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43400"/>
            <a:ext cx="3794760" cy="429768"/>
          </a:xfrm>
          <a:prstGeom prst="rect">
            <a:avLst/>
          </a:prstGeom>
          <a:solidFill>
            <a:srgbClr val="0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7F"/>
                </a:solidFill>
              </a:rPr>
              <a:t>TOTAL ARR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4343400"/>
            <a:ext cx="2057400" cy="429768"/>
          </a:xfrm>
          <a:prstGeom prst="rect">
            <a:avLst/>
          </a:prstGeom>
          <a:solidFill>
            <a:srgbClr val="0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79" y="44348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7F"/>
                </a:solidFill>
              </a:rPr>
              <a:t>164 000 $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4343400"/>
            <a:ext cx="2057400" cy="429768"/>
          </a:xfrm>
          <a:prstGeom prst="rect">
            <a:avLst/>
          </a:prstGeom>
          <a:solidFill>
            <a:srgbClr val="0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4348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7F"/>
                </a:solidFill>
              </a:rPr>
              <a:t>872 000 $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4343400"/>
            <a:ext cx="2057400" cy="429768"/>
          </a:xfrm>
          <a:prstGeom prst="rect">
            <a:avLst/>
          </a:prstGeom>
          <a:solidFill>
            <a:srgbClr val="0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4348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7F"/>
                </a:solidFill>
              </a:rPr>
              <a:t>2 500 000 $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ABB"/>
                </a:solidFill>
              </a:rPr>
              <a:t>Marge brute cible : 65–72% à partir de l'an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BB"/>
                </a:solidFill>
              </a:rPr>
              <a:t>Hypothèse : équipe 8 personnes · Infrastructure cloud souverain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TRACTION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Ce qui est déjà construit et validé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07F"/>
                </a:solidFill>
              </a:rPr>
              <a:t>Infrastructure technique</a:t>
            </a:r>
          </a:p>
        </p:txBody>
      </p:sp>
      <p:sp>
        <p:nvSpPr>
          <p:cNvPr id="8" name="Oval 7"/>
          <p:cNvSpPr/>
          <p:nvPr/>
        </p:nvSpPr>
        <p:spPr>
          <a:xfrm>
            <a:off x="585216" y="2514600"/>
            <a:ext cx="146304" cy="146304"/>
          </a:xfrm>
          <a:prstGeom prst="ellipse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Edge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Mobile Kotlin offline-first · GPS compressé · Sync adaptatif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172968"/>
            <a:ext cx="146304" cy="146304"/>
          </a:xfrm>
          <a:prstGeom prst="ellipse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815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 Gateway NestJS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Auth · RBAC · Rate limiting · WebSocket temps réel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3831335"/>
            <a:ext cx="146304" cy="146304"/>
          </a:xfrm>
          <a:prstGeom prst="ellipse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98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Services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Flood · Heat · Drought · Déforestation en production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4489704"/>
            <a:ext cx="146304" cy="146304"/>
          </a:xfrm>
          <a:prstGeom prst="ellipse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982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Intégrations satellite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457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Copernicus · NASA · OSM connectés</a:t>
            </a:r>
          </a:p>
        </p:txBody>
      </p:sp>
      <p:sp>
        <p:nvSpPr>
          <p:cNvPr id="20" name="Oval 19"/>
          <p:cNvSpPr/>
          <p:nvPr/>
        </p:nvSpPr>
        <p:spPr>
          <a:xfrm>
            <a:off x="585216" y="5148071"/>
            <a:ext cx="146304" cy="146304"/>
          </a:xfrm>
          <a:prstGeom prst="ellipse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566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Mobilité &amp; carbone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04103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Calcul CO₂ par trajet · Modèle COPERT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Roadmap 8 semaines en cours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96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423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Sem 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423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PostGIS + schéma canonique + TimescaleDB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081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Sem 3–4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081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Event Bus NATS JetStream · Services connectés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13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9ABB"/>
                </a:solidFill>
              </a:rPr>
              <a:t>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398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ABB"/>
                </a:solidFill>
              </a:rPr>
              <a:t>Sem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739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Orchestrator + Feature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7141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9ABB"/>
                </a:solidFill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98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ABB"/>
                </a:solidFill>
              </a:rPr>
              <a:t>Sem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98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Carbon Ledger certifiable (MRV ISO 14064)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9ABB"/>
                </a:solidFill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0566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ABB"/>
                </a:solidFill>
              </a:rPr>
              <a:t>Sem 7–8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0566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Observabilité + CI/CD + Digital Twin MVP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Entrer par les bailleurs,
conquérir les États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724912" cy="36576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Pilote bailleur gratuit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93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3 mois · AFD ou Banque Mondiale
1 projet actif en Côte d'Ivoire
Accès gratuit dashboards d'impact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64608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Résultat : lettre de référence
+ accès réseau gouvernemental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468880"/>
            <a:ext cx="2724912" cy="36576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Premier contrat État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393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District Abidjan · 60k USD an 1
Clause extension nationale an 2
KPIs auto-mesurés par la plateforme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4864608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Résultat : référence publique
+ contrat 180k/an activable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468880"/>
            <a:ext cx="2724912" cy="36576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Expansion CEDEAO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393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Sénégal · Cameroun · Ghana
Même stack, même contrat
Équipe commerciale locale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864608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Résultat : 3–5 pays · an 3
+ réseau bailleurs établi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19" y="2468880"/>
            <a:ext cx="2724912" cy="36576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599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3154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&amp; Carbon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36393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Entreprises obligées ESG
MNCs opérant localement
Carbon credits registry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599" y="4864608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Résultat : revenu récurrent
Sans cycle vente gouvernemental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82696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07F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07F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3415" y="39319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07F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POSITIONNEMENT CONCURRENTIEL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Ce que personne d'autre n'offre
en Afrique de l'Ouest aujourd'hui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2651760" cy="47548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423160"/>
            <a:ext cx="2194560" cy="475488"/>
          </a:xfrm>
          <a:prstGeom prst="rect">
            <a:avLst/>
          </a:prstGeom>
          <a:solidFill>
            <a:srgbClr val="009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5146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BérylGreenOS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423160"/>
            <a:ext cx="2194560" cy="47548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25146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Esri / ArcGIS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423160"/>
            <a:ext cx="2011680" cy="47548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5146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Palantir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2423160"/>
            <a:ext cx="1874520" cy="47548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SaaS ESG (Sweep)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35224"/>
            <a:ext cx="26517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2666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Souveraineté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935224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02666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935224"/>
            <a:ext cx="21945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59" y="302666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935224"/>
            <a:ext cx="201168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02666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935224"/>
            <a:ext cx="187452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30266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0712"/>
            <a:ext cx="26517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021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Temps réel territorial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410712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50215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3410712"/>
            <a:ext cx="21945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59" y="350215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Partiel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3410712"/>
            <a:ext cx="201168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350215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3410712"/>
            <a:ext cx="187452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3502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886200"/>
            <a:ext cx="26517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7763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Carbon Ledger MRV certifié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886200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397763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3886200"/>
            <a:ext cx="21945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397763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3886200"/>
            <a:ext cx="201168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3977639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886200"/>
            <a:ext cx="187452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268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Partiel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361688"/>
            <a:ext cx="26517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Contexte africain natif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4361688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453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4361688"/>
            <a:ext cx="21945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23559" y="44531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4361688"/>
            <a:ext cx="201168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445312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40" y="4361688"/>
            <a:ext cx="187452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2680" y="4453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837176"/>
            <a:ext cx="26517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92861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Prix accessible B2G Afrique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46120" y="4837176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37560" y="492861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32120" y="4837176"/>
            <a:ext cx="21945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59" y="492861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4837176"/>
            <a:ext cx="201168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09560" y="4928616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21240" y="4837176"/>
            <a:ext cx="187452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12680" y="49286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312664"/>
            <a:ext cx="26517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5404103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Digital Twin climatique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6120" y="5312664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37560" y="540410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2120" y="5312664"/>
            <a:ext cx="219456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23559" y="5404103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5312664"/>
            <a:ext cx="201168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5404103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B"/>
                </a:solidFill>
              </a:rPr>
              <a:t>Partiel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5312664"/>
            <a:ext cx="1874520" cy="43891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12680" y="540410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788152"/>
            <a:ext cx="26517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879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CF5"/>
                </a:solidFill>
              </a:rPr>
              <a:t>Open / souverain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6120" y="5788152"/>
            <a:ext cx="2194560" cy="438912"/>
          </a:xfrm>
          <a:prstGeom prst="rect">
            <a:avLst/>
          </a:prstGeom>
          <a:solidFill>
            <a:srgbClr val="05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37560" y="5879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07F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32120" y="5788152"/>
            <a:ext cx="219456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23559" y="587959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8120" y="5788152"/>
            <a:ext cx="201168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09560" y="587959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21240" y="5788152"/>
            <a:ext cx="1874520" cy="438912"/>
          </a:xfrm>
          <a:prstGeom prst="rect">
            <a:avLst/>
          </a:prstGeom>
          <a:solidFill>
            <a:srgbClr val="1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12680" y="58795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534B"/>
                </a:solidFill>
              </a:rPr>
              <a:t>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7F"/>
                </a:solidFill>
              </a:rPr>
              <a:t>L'ÉQUIPE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Construits pour ce marché,
de l'intérieur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724912" cy="292608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606040"/>
            <a:ext cx="896112" cy="896112"/>
          </a:xfrm>
          <a:prstGeom prst="ellipse">
            <a:avLst/>
          </a:prstGeom>
          <a:solidFill>
            <a:srgbClr val="009A65"/>
          </a:solidFill>
          <a:ln w="12700">
            <a:solidFill>
              <a:srgbClr val="00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Fondateur /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4114800"/>
            <a:ext cx="219456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Vision stratégique B2G
Réseaux gouvernementaux CI
Architecture Climate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468880"/>
            <a:ext cx="2724912" cy="292608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2606040"/>
            <a:ext cx="896112" cy="896112"/>
          </a:xfrm>
          <a:prstGeom prst="ellipse">
            <a:avLst/>
          </a:prstGeom>
          <a:solidFill>
            <a:srgbClr val="009A65"/>
          </a:solidFill>
          <a:ln w="12700">
            <a:solidFill>
              <a:srgbClr val="00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657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114800"/>
            <a:ext cx="219456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42519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Lead NestJS + FastAPI
Edge computing mobile
Systèmes temps réel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2468880"/>
            <a:ext cx="2724912" cy="292608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2606040"/>
            <a:ext cx="896112" cy="896112"/>
          </a:xfrm>
          <a:prstGeom prst="ellipse">
            <a:avLst/>
          </a:prstGeom>
          <a:solidFill>
            <a:srgbClr val="009A65"/>
          </a:solidFill>
          <a:ln w="12700">
            <a:solidFill>
              <a:srgbClr val="00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Scientist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4114800"/>
            <a:ext cx="219456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Modèles IA climatiques
Copernicus / NASA
Geospatial 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19" y="2468880"/>
            <a:ext cx="2724912" cy="292608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04119" y="2606040"/>
            <a:ext cx="896112" cy="896112"/>
          </a:xfrm>
          <a:prstGeom prst="ellipse">
            <a:avLst/>
          </a:prstGeom>
          <a:solidFill>
            <a:srgbClr val="009A65"/>
          </a:solidFill>
          <a:ln w="12700">
            <a:solidFill>
              <a:srgbClr val="00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599" y="3657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Business Dev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4114800"/>
            <a:ext cx="219456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599" y="42519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B"/>
                </a:solidFill>
              </a:rPr>
              <a:t>Relations bailleurs
Cycle vente gouvernemental
Partenaires CEDEAO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ABB"/>
                </a:solidFill>
              </a:rPr>
              <a:t>Nous recrutons : Senior Backend Engineer · Climate Data Analyst · Commercial CEDEAO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UTILISATION DES FONDS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1,2 M USD · 18 mois de runway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724912" cy="4114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7919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A623"/>
                </a:solidFill>
              </a:rP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540 000 $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CF5"/>
                </a:solidFill>
              </a:rPr>
              <a:t>Équipe technique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4 ingénieurs senior · DevOps · Data Scientist
Compléter les 8 semaines de roadmap
Maintenance et évolution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011680"/>
            <a:ext cx="2724912" cy="4114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011680"/>
            <a:ext cx="267919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1488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A623"/>
                </a:solidFill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300 000 $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461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CF5"/>
                </a:solidFill>
              </a:rPr>
              <a:t>Go-to-market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3703320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840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Business Dev CEDEAO · Partenariats bailleurs
Pilote État Côte d'Ivoire · Certifications MRV
Légal &amp; compliance B2G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2011680"/>
            <a:ext cx="2724912" cy="4114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2011680"/>
            <a:ext cx="2679192" cy="54864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488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C07F"/>
                </a:solidFill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240 000 $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CF5"/>
                </a:solidFill>
              </a:rPr>
              <a:t>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703320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Cloud souverain OVHcloud Afrique
Déploiement on-premise pilote
Sécurité &amp; certifications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19" y="2011680"/>
            <a:ext cx="2724912" cy="4114800"/>
          </a:xfrm>
          <a:prstGeom prst="rect">
            <a:avLst/>
          </a:prstGeom>
          <a:solidFill>
            <a:srgbClr val="162A3A"/>
          </a:solidFill>
          <a:ln w="12700">
            <a:solidFill>
              <a:srgbClr val="009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19" y="2011680"/>
            <a:ext cx="2679192" cy="54864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21488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C07F"/>
                </a:solidFill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120 000 $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32461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CF5"/>
                </a:solidFill>
              </a:rPr>
              <a:t>Réserve opérationnelle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599" y="3703320"/>
            <a:ext cx="22860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599" y="38404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B"/>
                </a:solidFill>
              </a:rPr>
              <a:t>18 mois burn rate couvert
Fonds de contingence
Opportunités inattendues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07F"/>
                </a:solidFill>
              </a:rPr>
              <a:t>Objectifs clés : Premier contrat État signé · 3 bailleurs actifs · Carbon Ledger certifié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45720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201168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356616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5120640"/>
            <a:ext cx="1463040" cy="1188720"/>
          </a:xfrm>
          <a:prstGeom prst="rect">
            <a:avLst/>
          </a:prstGeom>
          <a:solidFill>
            <a:srgbClr val="122638"/>
          </a:solidFill>
          <a:ln w="6350">
            <a:solidFill>
              <a:srgbClr val="1A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BérylGreenOS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2ECF5"/>
                </a:solidFill>
              </a:rPr>
              <a:t>Le premier système d'exploitation climatique souverain d'Afrique de l'Ouest.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337560"/>
            <a:ext cx="3657600" cy="27432"/>
          </a:xfrm>
          <a:prstGeom prst="rect">
            <a:avLst/>
          </a:prstGeom>
          <a:solidFill>
            <a:srgbClr val="00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07F"/>
                </a:solidFill>
              </a:rPr>
              <a:t>Nous cherchons des partenaires qui comprennent
que l'infrastructure précède le marché.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CF5"/>
                </a:solidFill>
              </a:rPr>
              <a:t>contact@berylgreen.os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623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07F"/>
                </a:solidFill>
              </a:rPr>
              <a:t>1,2 M 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6126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BB"/>
                </a:solidFill>
              </a:rPr>
              <a:t>Levée Series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623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07F"/>
                </a:solidFill>
              </a:rPr>
              <a:t>18 mois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126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BB"/>
                </a:solidFill>
              </a:rPr>
              <a:t>Runway cible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623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07F"/>
                </a:solidFill>
              </a:rPr>
              <a:t>2026 Q1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126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BB"/>
                </a:solidFill>
              </a:rPr>
              <a:t>Premier contrat État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9AB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